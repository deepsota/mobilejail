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576F1B6B-86B0-4A63-9B16-B3A77E9F14DE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</p:sp>
      <p:sp>
        <p:nvSpPr>
          <p:cNvPr id="42" name="Rectangle 2"/>
          <p:cNvSpPr/>
          <p:nvPr/>
        </p:nvSpPr>
        <p:spPr>
          <a:xfrm>
            <a:off x="0" y="0"/>
            <a:ext cx="234000" cy="5670000"/>
          </a:xfrm>
          <a:prstGeom prst="rect">
            <a:avLst/>
          </a:prstGeom>
          <a:solidFill>
            <a:srgbClr val="16325c"/>
          </a:solidFill>
          <a:ln>
            <a:solidFill>
              <a:srgbClr val="16325c"/>
            </a:solidFill>
          </a:ln>
        </p:spPr>
      </p:sp>
      <p:sp>
        <p:nvSpPr>
          <p:cNvPr id="43" name="TextShape 3"/>
          <p:cNvSpPr txBox="1"/>
          <p:nvPr/>
        </p:nvSpPr>
        <p:spPr>
          <a:xfrm>
            <a:off x="684000" y="792000"/>
            <a:ext cx="8928000" cy="936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b">
            <a:noAutofit/>
          </a:bodyPr>
          <a:p>
            <a:pPr algn="ctr"/>
            <a:r>
              <a:rPr b="1" lang="zh-CN" sz="2800" spc="-1" strike="noStrike">
                <a:solidFill>
                  <a:srgbClr val="ffffff"/>
                </a:solidFill>
                <a:latin typeface="Noto Sans CJK SC"/>
              </a:rPr>
              <a:t>移动文档协作方案</a:t>
            </a:r>
            <a:endParaRPr b="1" lang="en-US" sz="2800" spc="-1" strike="noStrike">
              <a:solidFill>
                <a:srgbClr val="ffffff"/>
              </a:solidFill>
              <a:latin typeface="Noto Sans CJK SC"/>
              <a:ea typeface="Noto Sans CJK SC"/>
            </a:endParaRPr>
          </a:p>
        </p:txBody>
      </p:sp>
      <p:sp>
        <p:nvSpPr>
          <p:cNvPr id="44" name="TextShape 4"/>
          <p:cNvSpPr txBox="1"/>
          <p:nvPr/>
        </p:nvSpPr>
        <p:spPr>
          <a:xfrm>
            <a:off x="828000" y="2124000"/>
            <a:ext cx="8532000" cy="2934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b">
            <a:noAutofit/>
          </a:bodyPr>
          <a:p>
            <a:pPr algn="ctr"/>
            <a:r>
              <a:rPr b="0" lang="zh-CN" sz="1500" spc="-1" strike="noStrike">
                <a:solidFill>
                  <a:srgbClr val="d9eaf7"/>
                </a:solidFill>
                <a:latin typeface="Noto Sans CJK SC"/>
              </a:rPr>
              <a:t>让文件查看、分享与会话协作更接近真实手机</a:t>
            </a:r>
            <a:endParaRPr b="0" lang="en-US" sz="1500" spc="-1" strike="noStrike">
              <a:solidFill>
                <a:srgbClr val="d9eaf7"/>
              </a:solidFill>
              <a:latin typeface="Noto Sans CJK SC"/>
              <a:ea typeface="Noto Sans CJK SC"/>
            </a:endParaRPr>
          </a:p>
          <a:p>
            <a:pPr algn="ctr"/>
            <a:r>
              <a:rPr b="0" lang="zh-CN" sz="1500" spc="-1" strike="noStrike">
                <a:solidFill>
                  <a:srgbClr val="d9eaf7"/>
                </a:solidFill>
                <a:latin typeface="Noto Sans CJK SC"/>
              </a:rPr>
              <a:t>产品评审稿 </a:t>
            </a:r>
            <a:r>
              <a:rPr b="0" lang="en-US" sz="1500" spc="-1" strike="noStrike">
                <a:solidFill>
                  <a:srgbClr val="d9eaf7"/>
                </a:solidFill>
                <a:latin typeface="Noto Sans CJK SC"/>
              </a:rPr>
              <a:t>· 2026 </a:t>
            </a:r>
            <a:r>
              <a:rPr b="0" lang="zh-CN" sz="1500" spc="-1" strike="noStrike">
                <a:solidFill>
                  <a:srgbClr val="d9eaf7"/>
                </a:solidFill>
                <a:latin typeface="Noto Sans CJK SC"/>
              </a:rPr>
              <a:t>年 </a:t>
            </a:r>
            <a:r>
              <a:rPr b="0" lang="en-US" sz="1500" spc="-1" strike="noStrike">
                <a:solidFill>
                  <a:srgbClr val="d9eaf7"/>
                </a:solidFill>
                <a:latin typeface="Noto Sans CJK SC"/>
              </a:rPr>
              <a:t>1 </a:t>
            </a:r>
            <a:r>
              <a:rPr b="0" lang="zh-CN" sz="1500" spc="-1" strike="noStrike">
                <a:solidFill>
                  <a:srgbClr val="d9eaf7"/>
                </a:solidFill>
                <a:latin typeface="Noto Sans CJK SC"/>
              </a:rPr>
              <a:t>月</a:t>
            </a:r>
            <a:endParaRPr b="0" lang="en-US" sz="1500" spc="-1" strike="noStrike">
              <a:solidFill>
                <a:srgbClr val="d9eaf7"/>
              </a:solidFill>
              <a:latin typeface="Noto Sans CJK SC"/>
              <a:ea typeface="Noto Sans CJK SC"/>
            </a:endParaRPr>
          </a:p>
        </p:txBody>
      </p:sp>
      <p:sp>
        <p:nvSpPr>
          <p:cNvPr id="45" name="TextShape 5"/>
          <p:cNvSpPr txBox="1"/>
          <p:nvPr/>
        </p:nvSpPr>
        <p:spPr>
          <a:xfrm>
            <a:off x="8892000" y="5202000"/>
            <a:ext cx="792000" cy="25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b">
            <a:noAutofit/>
          </a:bodyPr>
          <a:p>
            <a:pPr algn="ctr"/>
            <a:r>
              <a:rPr b="0" lang="en-US" sz="900" spc="-1" strike="noStrike">
                <a:solidFill>
                  <a:srgbClr val="a8c7fa"/>
                </a:solidFill>
                <a:latin typeface="Noto Sans CJK SC"/>
              </a:rPr>
              <a:t>01 / 04</a:t>
            </a:r>
            <a:endParaRPr b="0" lang="en-US" sz="900" spc="-1" strike="noStrike">
              <a:solidFill>
                <a:srgbClr val="a8c7fa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1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f8fafd"/>
          </a:solidFill>
          <a:ln>
            <a:solidFill>
              <a:srgbClr val="f8fafd"/>
            </a:solidFill>
          </a:ln>
        </p:spPr>
      </p:sp>
      <p:sp>
        <p:nvSpPr>
          <p:cNvPr id="47" name="Rectangle 2"/>
          <p:cNvSpPr/>
          <p:nvPr/>
        </p:nvSpPr>
        <p:spPr>
          <a:xfrm>
            <a:off x="0" y="0"/>
            <a:ext cx="234000" cy="5670000"/>
          </a:xfrm>
          <a:prstGeom prst="rect">
            <a:avLst/>
          </a:prstGeom>
          <a:solidFill>
            <a:srgbClr val="174ea6"/>
          </a:solidFill>
          <a:ln>
            <a:solidFill>
              <a:srgbClr val="174ea6"/>
            </a:solidFill>
          </a:ln>
        </p:spPr>
      </p:sp>
      <p:sp>
        <p:nvSpPr>
          <p:cNvPr id="48" name="TextShape 3"/>
          <p:cNvSpPr txBox="1"/>
          <p:nvPr/>
        </p:nvSpPr>
        <p:spPr>
          <a:xfrm>
            <a:off x="684000" y="432000"/>
            <a:ext cx="8928000" cy="936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b">
            <a:noAutofit/>
          </a:bodyPr>
          <a:p>
            <a:r>
              <a:rPr b="1" lang="zh-CN" sz="2400" spc="-1" strike="noStrike">
                <a:solidFill>
                  <a:srgbClr val="202124"/>
                </a:solidFill>
                <a:latin typeface="Noto Sans CJK SC"/>
              </a:rPr>
              <a:t>用户需要什么？</a:t>
            </a:r>
            <a:endParaRPr b="1" lang="en-US" sz="2400" spc="-1" strike="noStrike">
              <a:solidFill>
                <a:srgbClr val="202124"/>
              </a:solidFill>
              <a:latin typeface="Noto Sans CJK SC"/>
              <a:ea typeface="Noto Sans CJK SC"/>
            </a:endParaRPr>
          </a:p>
        </p:txBody>
      </p:sp>
      <p:sp>
        <p:nvSpPr>
          <p:cNvPr id="49" name="TextShape 4"/>
          <p:cNvSpPr txBox="1"/>
          <p:nvPr/>
        </p:nvSpPr>
        <p:spPr>
          <a:xfrm>
            <a:off x="828000" y="1548000"/>
            <a:ext cx="8532000" cy="3798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b">
            <a:noAutofit/>
          </a:bodyPr>
          <a:p>
            <a:r>
              <a:rPr b="0" lang="en-US" sz="1400" spc="-1" strike="noStrike">
                <a:solidFill>
                  <a:srgbClr val="3c4043"/>
                </a:solidFill>
                <a:latin typeface="Noto Sans CJK SC"/>
              </a:rPr>
              <a:t>01</a:t>
            </a:r>
            <a:r>
              <a:rPr b="0" lang="zh-CN" sz="1400" spc="-1" strike="noStrike">
                <a:solidFill>
                  <a:srgbClr val="3c4043"/>
                </a:solidFill>
                <a:latin typeface="Noto Sans CJK SC"/>
              </a:rPr>
              <a:t>　常用格式直接打开</a:t>
            </a:r>
            <a:endParaRPr b="0" lang="en-US" sz="1400" spc="-1" strike="noStrike">
              <a:solidFill>
                <a:srgbClr val="3c4043"/>
              </a:solidFill>
              <a:latin typeface="Noto Sans CJK SC"/>
              <a:ea typeface="Noto Sans CJK SC"/>
            </a:endParaRPr>
          </a:p>
          <a:p>
            <a:r>
              <a:rPr b="0" lang="en-US" sz="1400" spc="-1" strike="noStrike">
                <a:solidFill>
                  <a:srgbClr val="3c4043"/>
                </a:solidFill>
                <a:latin typeface="Noto Sans CJK SC"/>
              </a:rPr>
              <a:t>PDF</a:t>
            </a:r>
            <a:r>
              <a:rPr b="0" lang="zh-CN" sz="1400" spc="-1" strike="noStrike">
                <a:solidFill>
                  <a:srgbClr val="3c4043"/>
                </a:solidFill>
                <a:latin typeface="Noto Sans CJK SC"/>
              </a:rPr>
              <a:t>、</a:t>
            </a:r>
            <a:r>
              <a:rPr b="0" lang="en-US" sz="1400" spc="-1" strike="noStrike">
                <a:solidFill>
                  <a:srgbClr val="3c4043"/>
                </a:solidFill>
                <a:latin typeface="Noto Sans CJK SC"/>
              </a:rPr>
              <a:t>TXT</a:t>
            </a:r>
            <a:r>
              <a:rPr b="0" lang="zh-CN" sz="1400" spc="-1" strike="noStrike">
                <a:solidFill>
                  <a:srgbClr val="3c4043"/>
                </a:solidFill>
                <a:latin typeface="Noto Sans CJK SC"/>
              </a:rPr>
              <a:t>、</a:t>
            </a:r>
            <a:r>
              <a:rPr b="0" lang="en-US" sz="1400" spc="-1" strike="noStrike">
                <a:solidFill>
                  <a:srgbClr val="3c4043"/>
                </a:solidFill>
                <a:latin typeface="Noto Sans CJK SC"/>
              </a:rPr>
              <a:t>DOCX</a:t>
            </a:r>
            <a:r>
              <a:rPr b="0" lang="zh-CN" sz="1400" spc="-1" strike="noStrike">
                <a:solidFill>
                  <a:srgbClr val="3c4043"/>
                </a:solidFill>
                <a:latin typeface="Noto Sans CJK SC"/>
              </a:rPr>
              <a:t>、</a:t>
            </a:r>
            <a:r>
              <a:rPr b="0" lang="en-US" sz="1400" spc="-1" strike="noStrike">
                <a:solidFill>
                  <a:srgbClr val="3c4043"/>
                </a:solidFill>
                <a:latin typeface="Noto Sans CJK SC"/>
              </a:rPr>
              <a:t>XLSX</a:t>
            </a:r>
            <a:r>
              <a:rPr b="0" lang="zh-CN" sz="1400" spc="-1" strike="noStrike">
                <a:solidFill>
                  <a:srgbClr val="3c4043"/>
                </a:solidFill>
                <a:latin typeface="Noto Sans CJK SC"/>
              </a:rPr>
              <a:t>、</a:t>
            </a:r>
            <a:r>
              <a:rPr b="0" lang="en-US" sz="1400" spc="-1" strike="noStrike">
                <a:solidFill>
                  <a:srgbClr val="3c4043"/>
                </a:solidFill>
                <a:latin typeface="Noto Sans CJK SC"/>
              </a:rPr>
              <a:t>PPTX </a:t>
            </a:r>
            <a:r>
              <a:rPr b="0" lang="zh-CN" sz="1400" spc="-1" strike="noStrike">
                <a:solidFill>
                  <a:srgbClr val="3c4043"/>
                </a:solidFill>
                <a:latin typeface="Noto Sans CJK SC"/>
              </a:rPr>
              <a:t>与旧版 </a:t>
            </a:r>
            <a:r>
              <a:rPr b="0" lang="en-US" sz="1400" spc="-1" strike="noStrike">
                <a:solidFill>
                  <a:srgbClr val="3c4043"/>
                </a:solidFill>
                <a:latin typeface="Noto Sans CJK SC"/>
              </a:rPr>
              <a:t>Office </a:t>
            </a:r>
            <a:r>
              <a:rPr b="0" lang="zh-CN" sz="1400" spc="-1" strike="noStrike">
                <a:solidFill>
                  <a:srgbClr val="3c4043"/>
                </a:solidFill>
                <a:latin typeface="Noto Sans CJK SC"/>
              </a:rPr>
              <a:t>文件</a:t>
            </a:r>
            <a:endParaRPr b="0" lang="en-US" sz="1400" spc="-1" strike="noStrike">
              <a:solidFill>
                <a:srgbClr val="3c4043"/>
              </a:solidFill>
              <a:latin typeface="Noto Sans CJK SC"/>
              <a:ea typeface="Noto Sans CJK SC"/>
            </a:endParaRPr>
          </a:p>
          <a:p>
            <a:endParaRPr b="0" lang="en-US" sz="1400" spc="-1" strike="noStrike">
              <a:solidFill>
                <a:srgbClr val="3c4043"/>
              </a:solidFill>
              <a:latin typeface="Noto Sans CJK SC"/>
              <a:ea typeface="Noto Sans CJK SC"/>
            </a:endParaRPr>
          </a:p>
          <a:p>
            <a:r>
              <a:rPr b="0" lang="en-US" sz="1400" spc="-1" strike="noStrike">
                <a:solidFill>
                  <a:srgbClr val="3c4043"/>
                </a:solidFill>
                <a:latin typeface="Noto Sans CJK SC"/>
              </a:rPr>
              <a:t>02</a:t>
            </a:r>
            <a:r>
              <a:rPr b="0" lang="zh-CN" sz="1400" spc="-1" strike="noStrike">
                <a:solidFill>
                  <a:srgbClr val="3c4043"/>
                </a:solidFill>
                <a:latin typeface="Noto Sans CJK SC"/>
              </a:rPr>
              <a:t>　从任意文件夹快速发送</a:t>
            </a:r>
            <a:endParaRPr b="0" lang="en-US" sz="1400" spc="-1" strike="noStrike">
              <a:solidFill>
                <a:srgbClr val="3c4043"/>
              </a:solidFill>
              <a:latin typeface="Noto Sans CJK SC"/>
              <a:ea typeface="Noto Sans CJK SC"/>
            </a:endParaRPr>
          </a:p>
          <a:p>
            <a:r>
              <a:rPr b="0" lang="zh-CN" sz="1400" spc="-1" strike="noStrike">
                <a:solidFill>
                  <a:srgbClr val="3c4043"/>
                </a:solidFill>
                <a:latin typeface="Noto Sans CJK SC"/>
              </a:rPr>
              <a:t>通过系统分享面板选择应用、联系人或现有会话</a:t>
            </a:r>
            <a:endParaRPr b="0" lang="en-US" sz="1400" spc="-1" strike="noStrike">
              <a:solidFill>
                <a:srgbClr val="3c4043"/>
              </a:solidFill>
              <a:latin typeface="Noto Sans CJK SC"/>
              <a:ea typeface="Noto Sans CJK SC"/>
            </a:endParaRPr>
          </a:p>
          <a:p>
            <a:endParaRPr b="0" lang="en-US" sz="1400" spc="-1" strike="noStrike">
              <a:solidFill>
                <a:srgbClr val="3c4043"/>
              </a:solidFill>
              <a:latin typeface="Noto Sans CJK SC"/>
              <a:ea typeface="Noto Sans CJK SC"/>
            </a:endParaRPr>
          </a:p>
          <a:p>
            <a:r>
              <a:rPr b="0" lang="en-US" sz="1400" spc="-1" strike="noStrike">
                <a:solidFill>
                  <a:srgbClr val="3c4043"/>
                </a:solidFill>
                <a:latin typeface="Noto Sans CJK SC"/>
              </a:rPr>
              <a:t>03</a:t>
            </a:r>
            <a:r>
              <a:rPr b="0" lang="zh-CN" sz="1400" spc="-1" strike="noStrike">
                <a:solidFill>
                  <a:srgbClr val="3c4043"/>
                </a:solidFill>
                <a:latin typeface="Noto Sans CJK SC"/>
              </a:rPr>
              <a:t>　历史附件始终可用</a:t>
            </a:r>
            <a:endParaRPr b="0" lang="en-US" sz="1400" spc="-1" strike="noStrike">
              <a:solidFill>
                <a:srgbClr val="3c4043"/>
              </a:solidFill>
              <a:latin typeface="Noto Sans CJK SC"/>
              <a:ea typeface="Noto Sans CJK SC"/>
            </a:endParaRPr>
          </a:p>
          <a:p>
            <a:r>
              <a:rPr b="0" lang="zh-CN" sz="1400" spc="-1" strike="noStrike">
                <a:solidFill>
                  <a:srgbClr val="3c4043"/>
                </a:solidFill>
                <a:latin typeface="Noto Sans CJK SC"/>
              </a:rPr>
              <a:t>发送后由目标应用保存独立副本，源文件变化不影响消息</a:t>
            </a:r>
            <a:endParaRPr b="0" lang="en-US" sz="1400" spc="-1" strike="noStrike">
              <a:solidFill>
                <a:srgbClr val="3c4043"/>
              </a:solidFill>
              <a:latin typeface="Noto Sans CJK SC"/>
              <a:ea typeface="Noto Sans CJK SC"/>
            </a:endParaRPr>
          </a:p>
        </p:txBody>
      </p:sp>
      <p:sp>
        <p:nvSpPr>
          <p:cNvPr id="50" name="TextShape 5"/>
          <p:cNvSpPr txBox="1"/>
          <p:nvPr/>
        </p:nvSpPr>
        <p:spPr>
          <a:xfrm>
            <a:off x="8892000" y="5202000"/>
            <a:ext cx="792000" cy="25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b">
            <a:noAutofit/>
          </a:bodyPr>
          <a:p>
            <a:pPr algn="ctr"/>
            <a:r>
              <a:rPr b="0" lang="en-US" sz="900" spc="-1" strike="noStrike">
                <a:solidFill>
                  <a:srgbClr val="80868b"/>
                </a:solidFill>
                <a:latin typeface="Noto Sans CJK SC"/>
              </a:rPr>
              <a:t>02 / 04</a:t>
            </a:r>
            <a:endParaRPr b="0" lang="en-US" sz="900" spc="-1" strike="noStrike">
              <a:solidFill>
                <a:srgbClr val="80868b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1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f8fafd"/>
          </a:solidFill>
          <a:ln>
            <a:solidFill>
              <a:srgbClr val="f8fafd"/>
            </a:solidFill>
          </a:ln>
        </p:spPr>
      </p:sp>
      <p:sp>
        <p:nvSpPr>
          <p:cNvPr id="52" name="Rectangle 2"/>
          <p:cNvSpPr/>
          <p:nvPr/>
        </p:nvSpPr>
        <p:spPr>
          <a:xfrm>
            <a:off x="0" y="0"/>
            <a:ext cx="234000" cy="5670000"/>
          </a:xfrm>
          <a:prstGeom prst="rect">
            <a:avLst/>
          </a:prstGeom>
          <a:solidFill>
            <a:srgbClr val="137333"/>
          </a:solidFill>
          <a:ln>
            <a:solidFill>
              <a:srgbClr val="137333"/>
            </a:solidFill>
          </a:ln>
        </p:spPr>
      </p:sp>
      <p:sp>
        <p:nvSpPr>
          <p:cNvPr id="53" name="TextShape 3"/>
          <p:cNvSpPr txBox="1"/>
          <p:nvPr/>
        </p:nvSpPr>
        <p:spPr>
          <a:xfrm>
            <a:off x="684000" y="432000"/>
            <a:ext cx="8928000" cy="936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b">
            <a:noAutofit/>
          </a:bodyPr>
          <a:p>
            <a:r>
              <a:rPr b="1" lang="zh-CN" sz="2400" spc="-1" strike="noStrike">
                <a:solidFill>
                  <a:srgbClr val="202124"/>
                </a:solidFill>
                <a:latin typeface="Noto Sans CJK SC"/>
              </a:rPr>
              <a:t>核心流程</a:t>
            </a:r>
            <a:endParaRPr b="1" lang="en-US" sz="2400" spc="-1" strike="noStrike">
              <a:solidFill>
                <a:srgbClr val="202124"/>
              </a:solidFill>
              <a:latin typeface="Noto Sans CJK SC"/>
              <a:ea typeface="Noto Sans CJK SC"/>
            </a:endParaRPr>
          </a:p>
        </p:txBody>
      </p:sp>
      <p:sp>
        <p:nvSpPr>
          <p:cNvPr id="54" name="TextShape 4"/>
          <p:cNvSpPr txBox="1"/>
          <p:nvPr/>
        </p:nvSpPr>
        <p:spPr>
          <a:xfrm>
            <a:off x="828000" y="1548000"/>
            <a:ext cx="8532000" cy="3798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b">
            <a:noAutofit/>
          </a:bodyPr>
          <a:p>
            <a:r>
              <a:rPr b="0" lang="zh-CN" sz="1400" spc="-1" strike="noStrike">
                <a:solidFill>
                  <a:srgbClr val="3c4043"/>
                </a:solidFill>
                <a:latin typeface="Noto Sans CJK SC"/>
              </a:rPr>
              <a:t>选择文件　→　系统分享面板　→　选择目标应用</a:t>
            </a:r>
            <a:endParaRPr b="0" lang="en-US" sz="1400" spc="-1" strike="noStrike">
              <a:solidFill>
                <a:srgbClr val="3c4043"/>
              </a:solidFill>
              <a:latin typeface="Noto Sans CJK SC"/>
              <a:ea typeface="Noto Sans CJK SC"/>
            </a:endParaRPr>
          </a:p>
          <a:p>
            <a:endParaRPr b="0" lang="en-US" sz="1400" spc="-1" strike="noStrike">
              <a:solidFill>
                <a:srgbClr val="3c4043"/>
              </a:solidFill>
              <a:latin typeface="Noto Sans CJK SC"/>
              <a:ea typeface="Noto Sans CJK SC"/>
            </a:endParaRPr>
          </a:p>
          <a:p>
            <a:r>
              <a:rPr b="0" lang="zh-CN" sz="1400" spc="-1" strike="noStrike">
                <a:solidFill>
                  <a:srgbClr val="3c4043"/>
                </a:solidFill>
                <a:latin typeface="Noto Sans CJK SC"/>
              </a:rPr>
              <a:t>选择联系人或会话　→　确认发送　→　生成附件卡片</a:t>
            </a:r>
            <a:endParaRPr b="0" lang="en-US" sz="1400" spc="-1" strike="noStrike">
              <a:solidFill>
                <a:srgbClr val="3c4043"/>
              </a:solidFill>
              <a:latin typeface="Noto Sans CJK SC"/>
              <a:ea typeface="Noto Sans CJK SC"/>
            </a:endParaRPr>
          </a:p>
          <a:p>
            <a:endParaRPr b="0" lang="en-US" sz="1400" spc="-1" strike="noStrike">
              <a:solidFill>
                <a:srgbClr val="3c4043"/>
              </a:solidFill>
              <a:latin typeface="Noto Sans CJK SC"/>
              <a:ea typeface="Noto Sans CJK SC"/>
            </a:endParaRPr>
          </a:p>
          <a:p>
            <a:r>
              <a:rPr b="0" lang="zh-CN" sz="1400" spc="-1" strike="noStrike">
                <a:solidFill>
                  <a:srgbClr val="3c4043"/>
                </a:solidFill>
                <a:latin typeface="Noto Sans CJK SC"/>
              </a:rPr>
              <a:t>点击附件　→　统一查看器　→　返回原会话</a:t>
            </a:r>
            <a:endParaRPr b="0" lang="en-US" sz="1400" spc="-1" strike="noStrike">
              <a:solidFill>
                <a:srgbClr val="3c4043"/>
              </a:solidFill>
              <a:latin typeface="Noto Sans CJK SC"/>
              <a:ea typeface="Noto Sans CJK SC"/>
            </a:endParaRPr>
          </a:p>
        </p:txBody>
      </p:sp>
      <p:sp>
        <p:nvSpPr>
          <p:cNvPr id="55" name="TextShape 5"/>
          <p:cNvSpPr txBox="1"/>
          <p:nvPr/>
        </p:nvSpPr>
        <p:spPr>
          <a:xfrm>
            <a:off x="8892000" y="5202000"/>
            <a:ext cx="792000" cy="25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b">
            <a:noAutofit/>
          </a:bodyPr>
          <a:p>
            <a:pPr algn="ctr"/>
            <a:r>
              <a:rPr b="0" lang="en-US" sz="900" spc="-1" strike="noStrike">
                <a:solidFill>
                  <a:srgbClr val="80868b"/>
                </a:solidFill>
                <a:latin typeface="Noto Sans CJK SC"/>
              </a:rPr>
              <a:t>03 / 04</a:t>
            </a:r>
            <a:endParaRPr b="0" lang="en-US" sz="900" spc="-1" strike="noStrike">
              <a:solidFill>
                <a:srgbClr val="80868b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1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f8fafd"/>
          </a:solidFill>
          <a:ln>
            <a:solidFill>
              <a:srgbClr val="f8fafd"/>
            </a:solidFill>
          </a:ln>
        </p:spPr>
      </p:sp>
      <p:sp>
        <p:nvSpPr>
          <p:cNvPr id="57" name="Rectangle 2"/>
          <p:cNvSpPr/>
          <p:nvPr/>
        </p:nvSpPr>
        <p:spPr>
          <a:xfrm>
            <a:off x="0" y="0"/>
            <a:ext cx="234000" cy="5670000"/>
          </a:xfrm>
          <a:prstGeom prst="rect">
            <a:avLst/>
          </a:prstGeom>
          <a:solidFill>
            <a:srgbClr val="7a3e00"/>
          </a:solidFill>
          <a:ln>
            <a:solidFill>
              <a:srgbClr val="7a3e00"/>
            </a:solidFill>
          </a:ln>
        </p:spPr>
      </p:sp>
      <p:sp>
        <p:nvSpPr>
          <p:cNvPr id="58" name="TextShape 3"/>
          <p:cNvSpPr txBox="1"/>
          <p:nvPr/>
        </p:nvSpPr>
        <p:spPr>
          <a:xfrm>
            <a:off x="684000" y="432000"/>
            <a:ext cx="8928000" cy="936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b">
            <a:noAutofit/>
          </a:bodyPr>
          <a:p>
            <a:r>
              <a:rPr b="1" lang="zh-CN" sz="2400" spc="-1" strike="noStrike">
                <a:solidFill>
                  <a:srgbClr val="202124"/>
                </a:solidFill>
                <a:latin typeface="Noto Sans CJK SC"/>
              </a:rPr>
              <a:t>交付里程碑</a:t>
            </a:r>
            <a:endParaRPr b="1" lang="en-US" sz="2400" spc="-1" strike="noStrike">
              <a:solidFill>
                <a:srgbClr val="202124"/>
              </a:solidFill>
              <a:latin typeface="Noto Sans CJK SC"/>
              <a:ea typeface="Noto Sans CJK SC"/>
            </a:endParaRPr>
          </a:p>
        </p:txBody>
      </p:sp>
      <p:sp>
        <p:nvSpPr>
          <p:cNvPr id="59" name="TextShape 4"/>
          <p:cNvSpPr txBox="1"/>
          <p:nvPr/>
        </p:nvSpPr>
        <p:spPr>
          <a:xfrm>
            <a:off x="828000" y="1548000"/>
            <a:ext cx="8532000" cy="3798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b">
            <a:noAutofit/>
          </a:bodyPr>
          <a:p>
            <a:r>
              <a:rPr b="0" lang="zh-CN" sz="1400" spc="-1" strike="noStrike">
                <a:solidFill>
                  <a:srgbClr val="3c4043"/>
                </a:solidFill>
                <a:latin typeface="Noto Sans CJK SC"/>
              </a:rPr>
              <a:t>第一阶段　文档查看与格式识别</a:t>
            </a:r>
            <a:endParaRPr b="0" lang="en-US" sz="1400" spc="-1" strike="noStrike">
              <a:solidFill>
                <a:srgbClr val="3c4043"/>
              </a:solidFill>
              <a:latin typeface="Noto Sans CJK SC"/>
              <a:ea typeface="Noto Sans CJK SC"/>
            </a:endParaRPr>
          </a:p>
          <a:p>
            <a:r>
              <a:rPr b="0" lang="zh-CN" sz="1400" spc="-1" strike="noStrike">
                <a:solidFill>
                  <a:srgbClr val="3c4043"/>
                </a:solidFill>
                <a:latin typeface="Noto Sans CJK SC"/>
              </a:rPr>
              <a:t>第二阶段　微信、短信、邮件附件闭环</a:t>
            </a:r>
            <a:endParaRPr b="0" lang="en-US" sz="1400" spc="-1" strike="noStrike">
              <a:solidFill>
                <a:srgbClr val="3c4043"/>
              </a:solidFill>
              <a:latin typeface="Noto Sans CJK SC"/>
              <a:ea typeface="Noto Sans CJK SC"/>
            </a:endParaRPr>
          </a:p>
          <a:p>
            <a:r>
              <a:rPr b="0" lang="zh-CN" sz="1400" spc="-1" strike="noStrike">
                <a:solidFill>
                  <a:srgbClr val="3c4043"/>
                </a:solidFill>
                <a:latin typeface="Noto Sans CJK SC"/>
              </a:rPr>
              <a:t>第三阶段　更多应用接入与系统设置联动</a:t>
            </a:r>
            <a:endParaRPr b="0" lang="en-US" sz="1400" spc="-1" strike="noStrike">
              <a:solidFill>
                <a:srgbClr val="3c4043"/>
              </a:solidFill>
              <a:latin typeface="Noto Sans CJK SC"/>
              <a:ea typeface="Noto Sans CJK SC"/>
            </a:endParaRPr>
          </a:p>
          <a:p>
            <a:r>
              <a:rPr b="0" lang="zh-CN" sz="1400" spc="-1" strike="noStrike">
                <a:solidFill>
                  <a:srgbClr val="3c4043"/>
                </a:solidFill>
                <a:latin typeface="Noto Sans CJK SC"/>
              </a:rPr>
              <a:t>第四阶段　性能、可访问性与回归验证</a:t>
            </a:r>
            <a:endParaRPr b="0" lang="en-US" sz="1400" spc="-1" strike="noStrike">
              <a:solidFill>
                <a:srgbClr val="3c4043"/>
              </a:solidFill>
              <a:latin typeface="Noto Sans CJK SC"/>
              <a:ea typeface="Noto Sans CJK SC"/>
            </a:endParaRPr>
          </a:p>
          <a:p>
            <a:endParaRPr b="0" lang="en-US" sz="1400" spc="-1" strike="noStrike">
              <a:solidFill>
                <a:srgbClr val="3c4043"/>
              </a:solidFill>
              <a:latin typeface="Noto Sans CJK SC"/>
              <a:ea typeface="Noto Sans CJK SC"/>
            </a:endParaRPr>
          </a:p>
          <a:p>
            <a:r>
              <a:rPr b="0" lang="zh-CN" sz="1400" spc="-1" strike="noStrike">
                <a:solidFill>
                  <a:srgbClr val="3c4043"/>
                </a:solidFill>
                <a:latin typeface="Noto Sans CJK SC"/>
              </a:rPr>
              <a:t>所有页面与数据均为移动端模拟演示内容。</a:t>
            </a:r>
            <a:endParaRPr b="0" lang="en-US" sz="1400" spc="-1" strike="noStrike">
              <a:solidFill>
                <a:srgbClr val="3c4043"/>
              </a:solidFill>
              <a:latin typeface="Noto Sans CJK SC"/>
              <a:ea typeface="Noto Sans CJK SC"/>
            </a:endParaRPr>
          </a:p>
        </p:txBody>
      </p:sp>
      <p:sp>
        <p:nvSpPr>
          <p:cNvPr id="60" name="TextShape 5"/>
          <p:cNvSpPr txBox="1"/>
          <p:nvPr/>
        </p:nvSpPr>
        <p:spPr>
          <a:xfrm>
            <a:off x="8892000" y="5202000"/>
            <a:ext cx="792000" cy="25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b">
            <a:noAutofit/>
          </a:bodyPr>
          <a:p>
            <a:pPr algn="ctr"/>
            <a:r>
              <a:rPr b="0" lang="en-US" sz="900" spc="-1" strike="noStrike">
                <a:solidFill>
                  <a:srgbClr val="80868b"/>
                </a:solidFill>
                <a:latin typeface="Noto Sans CJK SC"/>
              </a:rPr>
              <a:t>04 / 04</a:t>
            </a:r>
            <a:endParaRPr b="0" lang="en-US" sz="900" spc="-1" strike="noStrike">
              <a:solidFill>
                <a:srgbClr val="80868b"/>
              </a:solidFill>
              <a:latin typeface="Noto Sans CJK SC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mobile-gym 模拟文档</dc:creator>
  <dc:description>用于移动端文件查看与分享流程测试的虚构样例</dc:description>
  <dc:language>en-US</dc:language>
  <cp:lastModifiedBy/>
  <dcterms:modified xsi:type="dcterms:W3CDTF">2026-07-10T15:46:29Z</dcterms:modified>
  <cp:revision>1</cp:revision>
  <dc:subject>演示文稿查看测试</dc:subject>
  <dc:title>移动文档协作方案</dc:title>
</cp:coreProperties>
</file>